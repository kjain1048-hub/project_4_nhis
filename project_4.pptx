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0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BD9407E-6500-4CC5-AC5A-D095532E077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056B45B-88DA-4ED4-B0D5-C2D3B78FCAFB}" type="slidenum">
              <a:rPr lang="en-GB" smtClean="0"/>
              <a:t>‹#›</a:t>
            </a:fld>
            <a:endParaRPr lang="en-GB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BD9407E-6500-4CC5-AC5A-D095532E077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056B45B-88DA-4ED4-B0D5-C2D3B78FCAF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BD9407E-6500-4CC5-AC5A-D095532E077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056B45B-88DA-4ED4-B0D5-C2D3B78FCAFB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BD9407E-6500-4CC5-AC5A-D095532E077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056B45B-88DA-4ED4-B0D5-C2D3B78FCAF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BD9407E-6500-4CC5-AC5A-D095532E077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056B45B-88DA-4ED4-B0D5-C2D3B78FCAFB}" type="slidenum">
              <a:rPr lang="en-GB" smtClean="0"/>
              <a:t>‹#›</a:t>
            </a:fld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BD9407E-6500-4CC5-AC5A-D095532E077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056B45B-88DA-4ED4-B0D5-C2D3B78FCAF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BD9407E-6500-4CC5-AC5A-D095532E077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056B45B-88DA-4ED4-B0D5-C2D3B78FCAF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BD9407E-6500-4CC5-AC5A-D095532E077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056B45B-88DA-4ED4-B0D5-C2D3B78FCAF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EBD9407E-6500-4CC5-AC5A-D095532E077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D056B45B-88DA-4ED4-B0D5-C2D3B78FCAF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BD9407E-6500-4CC5-AC5A-D095532E077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056B45B-88DA-4ED4-B0D5-C2D3B78FCAF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BD9407E-6500-4CC5-AC5A-D095532E077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056B45B-88DA-4ED4-B0D5-C2D3B78FCAF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EBD9407E-6500-4CC5-AC5A-D095532E0776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D056B45B-88DA-4ED4-B0D5-C2D3B78FCAFB}" type="slidenum">
              <a:rPr lang="en-GB" smtClean="0"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203" r:id="rId3"/>
    <p:sldLayoutId id="2147484204" r:id="rId4"/>
    <p:sldLayoutId id="2147484205" r:id="rId5"/>
    <p:sldLayoutId id="2147484206" r:id="rId6"/>
    <p:sldLayoutId id="2147484207" r:id="rId7"/>
    <p:sldLayoutId id="2147484208" r:id="rId8"/>
    <p:sldLayoutId id="2147484209" r:id="rId9"/>
    <p:sldLayoutId id="2147484210" r:id="rId10"/>
    <p:sldLayoutId id="214748421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3162" y="6928"/>
            <a:ext cx="9287162" cy="68579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52400"/>
            <a:ext cx="7772400" cy="990600"/>
          </a:xfrm>
        </p:spPr>
        <p:txBody>
          <a:bodyPr>
            <a:normAutofit/>
          </a:bodyPr>
          <a:lstStyle/>
          <a:p>
            <a:pPr algn="ctr"/>
            <a:r>
              <a:rPr lang="en-GB" sz="2800" b="0" cap="none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odoni MT Black" panose="02070A03080606020203" pitchFamily="18" charset="0"/>
              </a:rPr>
              <a:t>Project Title: Mobile Price Prediction &amp; Features Analysis</a:t>
            </a:r>
            <a:endParaRPr lang="en-GB" sz="2800" b="0" cap="none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odoni MT Black" panose="02070A030806060202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648200"/>
            <a:ext cx="8839200" cy="1066801"/>
          </a:xfrm>
        </p:spPr>
        <p:txBody>
          <a:bodyPr>
            <a:noAutofit/>
          </a:bodyPr>
          <a:lstStyle/>
          <a:p>
            <a:r>
              <a:rPr lang="en-GB" sz="2400" b="1" dirty="0" smtClean="0">
                <a:latin typeface="Bodoni MT" panose="02070603080606020203" pitchFamily="18" charset="0"/>
              </a:rPr>
              <a:t>Project Name:</a:t>
            </a:r>
            <a:r>
              <a:rPr lang="en-GB" sz="2400" dirty="0" smtClean="0">
                <a:latin typeface="Bodoni MT" panose="02070603080606020203" pitchFamily="18" charset="0"/>
              </a:rPr>
              <a:t> Predictive Analytics for Mobile Pricing.</a:t>
            </a:r>
          </a:p>
          <a:p>
            <a:r>
              <a:rPr lang="en-GB" sz="2400" b="1" dirty="0" smtClean="0">
                <a:latin typeface="Bodoni MT" panose="02070603080606020203" pitchFamily="18" charset="0"/>
              </a:rPr>
              <a:t>Objective:</a:t>
            </a:r>
            <a:r>
              <a:rPr lang="en-GB" sz="2400" dirty="0" smtClean="0">
                <a:latin typeface="Bodoni MT" panose="02070603080606020203" pitchFamily="18" charset="0"/>
              </a:rPr>
              <a:t> To determine how hardware specifications influence market price using Machine </a:t>
            </a:r>
          </a:p>
          <a:p>
            <a:endParaRPr lang="en-US" sz="2400" dirty="0" smtClean="0">
              <a:latin typeface="Bodoni MT" panose="02070603080606020203" pitchFamily="18" charset="0"/>
            </a:endParaRPr>
          </a:p>
          <a:p>
            <a:endParaRPr lang="en-US" sz="2400" dirty="0">
              <a:latin typeface="Bodoni MT" panose="02070603080606020203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-67732" y="6211669"/>
            <a:ext cx="6324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odoni MT Black" panose="02070A03080606020203" pitchFamily="18" charset="0"/>
              </a:rPr>
              <a:t> </a:t>
            </a:r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ell MT" panose="02020503060305020303" pitchFamily="18" charset="0"/>
              </a:rPr>
              <a:t>SUBMITTED TO _NEXTHIKES  IT  SOLUTIONS</a:t>
            </a:r>
          </a:p>
          <a:p>
            <a:r>
              <a:rPr lang="en-US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ell MT" panose="02020503060305020303" pitchFamily="18" charset="0"/>
              </a:rPr>
              <a:t> SUBMITTED BY_KOMAL JAIN</a:t>
            </a:r>
            <a:endParaRPr lang="en-GB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327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90711"/>
            <a:ext cx="6477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dirty="0" smtClean="0">
                <a:latin typeface="Bodoni MT Black" panose="02070A03080606020203" pitchFamily="18" charset="0"/>
              </a:rPr>
              <a:t>Slide 2: Project Objectives</a:t>
            </a:r>
            <a:endParaRPr lang="en-GB" sz="2800" dirty="0">
              <a:latin typeface="Bodoni MT Black" panose="02070A03080606020203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1564" y="2437629"/>
            <a:ext cx="874221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dentify the most critical hardware features that drive mobile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 smtClean="0">
                <a:latin typeface="Bodoni MT" panose="02070603080606020203" pitchFamily="18" charset="0"/>
                <a:cs typeface="Arial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costs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Perform Exploratory Data Analysis (EDA) to find hidden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odoni MT" panose="02070603080606020203" pitchFamily="18" charset="0"/>
              <a:cs typeface="Arial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patterns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Build a high-accuracy regression model to predict the price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of  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 smtClean="0">
                <a:latin typeface="Bodoni MT" panose="02070603080606020203" pitchFamily="18" charset="0"/>
                <a:cs typeface="Arial" charset="0"/>
              </a:rPr>
              <a:t> 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future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mobile models.</a:t>
            </a:r>
          </a:p>
        </p:txBody>
      </p:sp>
    </p:spTree>
    <p:extLst>
      <p:ext uri="{BB962C8B-B14F-4D97-AF65-F5344CB8AC3E}">
        <p14:creationId xmlns:p14="http://schemas.microsoft.com/office/powerpoint/2010/main" val="4242668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7800" y="48491"/>
            <a:ext cx="63137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 smtClean="0">
                <a:latin typeface="Bodoni MT Black" panose="02070A03080606020203" pitchFamily="18" charset="0"/>
              </a:rPr>
              <a:t>Slide 3: Data Understanding &amp; Loading</a:t>
            </a:r>
            <a:endParaRPr lang="en-GB" sz="2400" dirty="0">
              <a:latin typeface="Bodoni MT Black" panose="02070A03080606020203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38547" y="2484303"/>
            <a:ext cx="85344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Initial Features: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Model, Color, RAM, Memory, Battery, Rear Camera, Front Camera, and Price.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Tools Used: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Python (Pandas, NumPy) for data manipulation and Seaborn for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1662995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5400" y="0"/>
            <a:ext cx="604961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dirty="0" smtClean="0">
                <a:latin typeface="Bodoni MT Black" panose="02070A03080606020203" pitchFamily="18" charset="0"/>
              </a:rPr>
              <a:t>Slide 4: Data Preprocessing (Cleaning)</a:t>
            </a:r>
            <a:endParaRPr lang="en-GB" sz="2800" dirty="0">
              <a:latin typeface="Bodoni MT Black" panose="02070A03080606020203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 rot="10800000" flipV="1">
            <a:off x="13855" y="2754870"/>
            <a:ext cx="8991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Cleaning: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Removed symbols like '₹' and ',' from Price.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Unit Conversion: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Converted text-based specs (e.g., "13MP", "5000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        mAh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") into clean numeric formats for calculation.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Missing Values: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Handled null entries to ensure a high-quality dataset.</a:t>
            </a:r>
          </a:p>
        </p:txBody>
      </p:sp>
    </p:spTree>
    <p:extLst>
      <p:ext uri="{BB962C8B-B14F-4D97-AF65-F5344CB8AC3E}">
        <p14:creationId xmlns:p14="http://schemas.microsoft.com/office/powerpoint/2010/main" val="1043695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6379" y="175506"/>
            <a:ext cx="58702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 smtClean="0">
                <a:latin typeface="Bodoni MT Black" panose="02070A03080606020203" pitchFamily="18" charset="0"/>
              </a:rPr>
              <a:t>Slide 5: Outlier Treatment</a:t>
            </a:r>
            <a:endParaRPr lang="en-GB" sz="2400" dirty="0">
              <a:latin typeface="Bodoni MT Black" panose="02070A03080606020203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 rot="10800000" flipV="1">
            <a:off x="0" y="2514600"/>
            <a:ext cx="876299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Solution: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Used the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Interquartile Range (IQR)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method.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Problem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Extreme price values can skew the model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  results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Result: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Removed anomalies to ensure the model focuses on the typical market range.</a:t>
            </a:r>
          </a:p>
        </p:txBody>
      </p:sp>
    </p:spTree>
    <p:extLst>
      <p:ext uri="{BB962C8B-B14F-4D97-AF65-F5344CB8AC3E}">
        <p14:creationId xmlns:p14="http://schemas.microsoft.com/office/powerpoint/2010/main" val="1781262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0" y="249382"/>
            <a:ext cx="63525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 smtClean="0">
                <a:latin typeface="Bodoni MT Black" panose="02070A03080606020203" pitchFamily="18" charset="0"/>
              </a:rPr>
              <a:t>Slide 6: Exploratory Data Analysis (EDA)</a:t>
            </a:r>
            <a:endParaRPr lang="en-GB" sz="2400" dirty="0">
              <a:latin typeface="Bodoni MT Black" panose="02070A03080606020203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76789" y="2667000"/>
            <a:ext cx="75438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  <a:cs typeface="Arial" charset="0"/>
              </a:rPr>
              <a:t>Visualization: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  <a:cs typeface="Arial" charset="0"/>
              </a:rPr>
              <a:t> Used Heatmaps and Scatter plots.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  <a:cs typeface="Arial" charset="0"/>
              </a:rPr>
              <a:t>Finding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  <a:cs typeface="Arial" charset="0"/>
              </a:rPr>
              <a:t>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  <a:cs typeface="Arial" charset="0"/>
              </a:rPr>
              <a:t> Analyzed the relationship between RAM, Battery life, and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  <a:cs typeface="Arial" charset="0"/>
              </a:rPr>
              <a:t>Price.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ell MT" panose="02020503060305020303" pitchFamily="18" charset="0"/>
              <a:cs typeface="Arial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  <a:cs typeface="Arial" charset="0"/>
              </a:rPr>
              <a:t>Scientific Analysis: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  <a:cs typeface="Arial" charset="0"/>
              </a:rPr>
              <a:t> Explored the impact of specific features like "AI Lens" and "Mobile Height."</a:t>
            </a:r>
          </a:p>
        </p:txBody>
      </p:sp>
    </p:spTree>
    <p:extLst>
      <p:ext uri="{BB962C8B-B14F-4D97-AF65-F5344CB8AC3E}">
        <p14:creationId xmlns:p14="http://schemas.microsoft.com/office/powerpoint/2010/main" val="1496782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152400"/>
            <a:ext cx="57443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 smtClean="0">
                <a:latin typeface="Bodoni MT Black" panose="02070A03080606020203" pitchFamily="18" charset="0"/>
              </a:rPr>
              <a:t>Slide 7: Feature Engineering</a:t>
            </a:r>
            <a:endParaRPr lang="en-GB" sz="2400" dirty="0">
              <a:latin typeface="Bodoni MT Black" panose="02070A03080606020203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 rot="10800000" flipV="1">
            <a:off x="304800" y="2557046"/>
            <a:ext cx="845819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Encoding: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Used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Label Encoding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to transform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 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latin typeface="Bodoni MT" panose="02070603080606020203" pitchFamily="18" charset="0"/>
                <a:cs typeface="Arial" charset="0"/>
              </a:rPr>
              <a:t> </a:t>
            </a:r>
            <a:r>
              <a:rPr lang="en-US" altLang="en-US" sz="2800" dirty="0" smtClean="0">
                <a:latin typeface="Bodoni MT" panose="02070603080606020203" pitchFamily="18" charset="0"/>
                <a:cs typeface="Arial" charset="0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categorical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columns (like Processor and Color) into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odoni MT" panose="02070603080606020203" pitchFamily="18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 smtClean="0">
                <a:latin typeface="Bodoni MT" panose="02070603080606020203" pitchFamily="18" charset="0"/>
                <a:cs typeface="Arial" charset="0"/>
              </a:rPr>
              <a:t>  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numbers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Feature Selection: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Identified the top 10 most relevant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odoni MT" panose="02070603080606020203" pitchFamily="18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latin typeface="Bodoni MT" panose="02070603080606020203" pitchFamily="18" charset="0"/>
                <a:cs typeface="Arial" charset="0"/>
              </a:rPr>
              <a:t> </a:t>
            </a:r>
            <a:r>
              <a:rPr lang="en-US" altLang="en-US" sz="2800" dirty="0" smtClean="0">
                <a:latin typeface="Bodoni MT" panose="02070603080606020203" pitchFamily="18" charset="0"/>
                <a:cs typeface="Arial" charset="0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features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that impact the target variable (Price).</a:t>
            </a:r>
          </a:p>
        </p:txBody>
      </p:sp>
    </p:spTree>
    <p:extLst>
      <p:ext uri="{BB962C8B-B14F-4D97-AF65-F5344CB8AC3E}">
        <p14:creationId xmlns:p14="http://schemas.microsoft.com/office/powerpoint/2010/main" val="3471324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1" y="228600"/>
            <a:ext cx="74988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 smtClean="0">
                <a:latin typeface="Bodoni MT Black" panose="02070A03080606020203" pitchFamily="18" charset="0"/>
              </a:rPr>
              <a:t>Slide 8: Machine Learning Implementa</a:t>
            </a:r>
            <a:r>
              <a:rPr lang="en-US" altLang="en-US" sz="2400" dirty="0">
                <a:latin typeface="Bodoni MT Black" panose="02070A03080606020203" pitchFamily="18" charset="0"/>
                <a:cs typeface="Arial" charset="0"/>
              </a:rPr>
              <a:t>2</a:t>
            </a:r>
            <a:r>
              <a:rPr lang="en-GB" sz="2400" dirty="0" err="1" smtClean="0">
                <a:latin typeface="Bodoni MT Black" panose="02070A03080606020203" pitchFamily="18" charset="0"/>
              </a:rPr>
              <a:t>tion</a:t>
            </a:r>
            <a:endParaRPr lang="en-GB" sz="2400" dirty="0">
              <a:latin typeface="Bodoni MT Black" panose="02070A03080606020203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6982" y="2190691"/>
            <a:ext cx="87630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Training Strategy: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80% Data for Training, 0% for 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latin typeface="Bodoni MT" panose="02070603080606020203" pitchFamily="18" charset="0"/>
                <a:cs typeface="Arial" charset="0"/>
              </a:rPr>
              <a:t> </a:t>
            </a:r>
            <a:r>
              <a:rPr lang="en-US" altLang="en-US" sz="2800" dirty="0" smtClean="0">
                <a:latin typeface="Bodoni MT" panose="02070603080606020203" pitchFamily="18" charset="0"/>
                <a:cs typeface="Arial" charset="0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Testing.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Algorithms Used: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odoni MT" panose="02070603080606020203" pitchFamily="18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Random Forest Regressor: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A robust ensemble method.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Extra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Trees Regressor: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Used for better accuracy and reducing variance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.	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odoni MT" panose="02070603080606020203" pitchFamily="18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odoni MT" panose="02070603080606020203" pitchFamily="18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122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52400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 smtClean="0">
                <a:latin typeface="Bodoni MT Black" panose="02070A03080606020203" pitchFamily="18" charset="0"/>
              </a:rPr>
              <a:t>Slide 9: Feature Importance Results</a:t>
            </a:r>
            <a:endParaRPr lang="en-GB" sz="2400" dirty="0">
              <a:latin typeface="Bodoni MT Black" panose="02070A03080606020203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52400" y="2529113"/>
            <a:ext cx="83058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The Big Winner: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Front Camera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was identified as the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 smtClean="0">
                <a:latin typeface="Bodoni MT" panose="02070603080606020203" pitchFamily="18" charset="0"/>
                <a:cs typeface="Arial" charset="0"/>
              </a:rPr>
              <a:t>  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most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influential feature for price determination.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Secondary Drivers: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Battery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and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Memory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also showed a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latin typeface="Bodoni MT" panose="02070603080606020203" pitchFamily="18" charset="0"/>
                <a:cs typeface="Arial" charset="0"/>
              </a:rPr>
              <a:t> </a:t>
            </a:r>
            <a:r>
              <a:rPr lang="en-US" altLang="en-US" sz="2800" dirty="0" smtClean="0">
                <a:latin typeface="Bodoni MT" panose="02070603080606020203" pitchFamily="18" charset="0"/>
                <a:cs typeface="Arial" charset="0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significant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scientific impact on the final cost.</a:t>
            </a:r>
          </a:p>
        </p:txBody>
      </p:sp>
    </p:spTree>
    <p:extLst>
      <p:ext uri="{BB962C8B-B14F-4D97-AF65-F5344CB8AC3E}">
        <p14:creationId xmlns:p14="http://schemas.microsoft.com/office/powerpoint/2010/main" val="1581137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87208" y="41564"/>
            <a:ext cx="56205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 smtClean="0">
                <a:latin typeface="Bodoni MT Black" panose="02070A03080606020203" pitchFamily="18" charset="0"/>
              </a:rPr>
              <a:t>Slide 10: Conclusion &amp; Recommendations</a:t>
            </a:r>
            <a:endParaRPr lang="en-GB" sz="2400" dirty="0">
              <a:latin typeface="Bodoni MT Black" panose="02070A03080606020203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81000" y="2815313"/>
            <a:ext cx="83820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Strategy: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Pricing strategies should prioritize Front </a:t>
            </a:r>
            <a:r>
              <a:rPr lang="en-US" altLang="en-US" sz="2800" dirty="0">
                <a:latin typeface="Bodoni MT" panose="02070603080606020203" pitchFamily="18" charset="0"/>
                <a:cs typeface="Arial" charset="0"/>
              </a:rPr>
              <a:t> </a:t>
            </a:r>
            <a:r>
              <a:rPr lang="en-US" altLang="en-US" sz="2800" dirty="0" smtClean="0">
                <a:latin typeface="Bodoni MT" panose="02070603080606020203" pitchFamily="18" charset="0"/>
                <a:cs typeface="Arial" charset="0"/>
              </a:rPr>
              <a:t> 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 smtClean="0">
                <a:latin typeface="Bodoni MT" panose="02070603080606020203" pitchFamily="18" charset="0"/>
                <a:cs typeface="Arial" charset="0"/>
              </a:rPr>
              <a:t> 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Camera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quality to stay competitive.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Future Scope: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The model can be used by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 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latin typeface="Bodoni MT" panose="02070603080606020203" pitchFamily="18" charset="0"/>
                <a:cs typeface="Arial" charset="0"/>
              </a:rPr>
              <a:t> </a:t>
            </a:r>
            <a:r>
              <a:rPr lang="en-US" altLang="en-US" sz="2800" dirty="0" smtClean="0">
                <a:latin typeface="Bodoni MT" panose="02070603080606020203" pitchFamily="18" charset="0"/>
                <a:cs typeface="Arial" charset="0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manufacturers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odoni MT" panose="02070603080606020203" pitchFamily="18" charset="0"/>
                <a:cs typeface="Arial" charset="0"/>
              </a:rPr>
              <a:t>to set optimal prices for upcoming mobile launches based on hardware tiers.</a:t>
            </a:r>
          </a:p>
        </p:txBody>
      </p:sp>
    </p:spTree>
    <p:extLst>
      <p:ext uri="{BB962C8B-B14F-4D97-AF65-F5344CB8AC3E}">
        <p14:creationId xmlns:p14="http://schemas.microsoft.com/office/powerpoint/2010/main" val="1483070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3315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236</TotalTime>
  <Words>456</Words>
  <Application>Microsoft Office PowerPoint</Application>
  <PresentationFormat>On-screen Show (4:3)</PresentationFormat>
  <Paragraphs>49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Metro</vt:lpstr>
      <vt:lpstr>Project Title: Mobile Price Prediction &amp; Features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Mobile Price Prediction &amp; Features Analysis</dc:title>
  <dc:creator>hp</dc:creator>
  <cp:lastModifiedBy>hp</cp:lastModifiedBy>
  <cp:revision>19</cp:revision>
  <dcterms:created xsi:type="dcterms:W3CDTF">2026-04-22T15:46:12Z</dcterms:created>
  <dcterms:modified xsi:type="dcterms:W3CDTF">2026-04-23T11:02:59Z</dcterms:modified>
</cp:coreProperties>
</file>